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3" r:id="rId1"/>
  </p:sldMasterIdLst>
  <p:sldIdLst>
    <p:sldId id="256" r:id="rId2"/>
    <p:sldId id="257" r:id="rId3"/>
    <p:sldId id="258" r:id="rId4"/>
    <p:sldId id="259" r:id="rId5"/>
    <p:sldId id="264" r:id="rId6"/>
    <p:sldId id="263" r:id="rId7"/>
    <p:sldId id="261" r:id="rId8"/>
    <p:sldId id="262" r:id="rId9"/>
    <p:sldId id="265" r:id="rId10"/>
    <p:sldId id="266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FBFB"/>
    <a:srgbClr val="7C8A2D"/>
    <a:srgbClr val="7D8B2F"/>
    <a:srgbClr val="7D8A2E"/>
    <a:srgbClr val="788525"/>
    <a:srgbClr val="7B882A"/>
    <a:srgbClr val="8A9644"/>
    <a:srgbClr val="0C6817"/>
    <a:srgbClr val="0E781B"/>
    <a:srgbClr val="01850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6362" autoAdjust="0"/>
  </p:normalViewPr>
  <p:slideViewPr>
    <p:cSldViewPr snapToGrid="0">
      <p:cViewPr varScale="1">
        <p:scale>
          <a:sx n="76" d="100"/>
          <a:sy n="76" d="100"/>
        </p:scale>
        <p:origin x="162" y="8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62113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0248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33319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3339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6/16/2026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55693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6/16/2026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89541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6/16/2026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8694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70492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7749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13394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52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54200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76" r:id="rId6"/>
    <p:sldLayoutId id="2147483672" r:id="rId7"/>
    <p:sldLayoutId id="2147483673" r:id="rId8"/>
    <p:sldLayoutId id="2147483674" r:id="rId9"/>
    <p:sldLayoutId id="2147483675" r:id="rId10"/>
    <p:sldLayoutId id="2147483677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Прямоугольник: скругленные углы 33">
            <a:extLst>
              <a:ext uri="{FF2B5EF4-FFF2-40B4-BE49-F238E27FC236}">
                <a16:creationId xmlns:a16="http://schemas.microsoft.com/office/drawing/2014/main" id="{12B07613-E520-4672-A505-5B9F0D684177}"/>
              </a:ext>
            </a:extLst>
          </p:cNvPr>
          <p:cNvSpPr/>
          <p:nvPr/>
        </p:nvSpPr>
        <p:spPr>
          <a:xfrm>
            <a:off x="5723775" y="6165287"/>
            <a:ext cx="5706225" cy="595775"/>
          </a:xfrm>
          <a:prstGeom prst="round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F4D2F873-163B-4305-98FF-401FDB36F1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23776" y="6134101"/>
            <a:ext cx="5706224" cy="595774"/>
          </a:xfrm>
        </p:spPr>
        <p:txBody>
          <a:bodyPr>
            <a:normAutofit fontScale="77500" lnSpcReduction="20000"/>
          </a:bodyPr>
          <a:lstStyle/>
          <a:p>
            <a:pPr algn="r"/>
            <a:r>
              <a:rPr lang="ru-RU" sz="2200" dirty="0">
                <a:latin typeface="Arial" panose="020B0604020202020204" pitchFamily="34" charset="0"/>
                <a:cs typeface="Arial" panose="020B0604020202020204" pitchFamily="34" charset="0"/>
              </a:rPr>
              <a:t>Проект студента: Прохоренко Р. С.</a:t>
            </a:r>
            <a:br>
              <a:rPr lang="ru-RU" sz="2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ru-RU" sz="2200" dirty="0">
                <a:latin typeface="Arial" panose="020B0604020202020204" pitchFamily="34" charset="0"/>
                <a:cs typeface="Arial" panose="020B0604020202020204" pitchFamily="34" charset="0"/>
              </a:rPr>
              <a:t>2026 г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723776" y="723900"/>
            <a:ext cx="5706224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CF06E40-3ECB-4820-95B5-8A70B07D4B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723776" y="6134100"/>
            <a:ext cx="56681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9E80B475-67A9-4CFC-9ECB-952BC910E22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499" t="10085" r="13217" b="10085"/>
          <a:stretch/>
        </p:blipFill>
        <p:spPr>
          <a:xfrm>
            <a:off x="1" y="-1"/>
            <a:ext cx="5375082" cy="6858001"/>
          </a:xfrm>
          <a:prstGeom prst="rect">
            <a:avLst/>
          </a:prstGeom>
        </p:spPr>
      </p:pic>
      <p:sp>
        <p:nvSpPr>
          <p:cNvPr id="25" name="Прямоугольник: скругленные углы 24">
            <a:extLst>
              <a:ext uri="{FF2B5EF4-FFF2-40B4-BE49-F238E27FC236}">
                <a16:creationId xmlns:a16="http://schemas.microsoft.com/office/drawing/2014/main" id="{FC0AAD75-4A56-4C31-B550-89003E933CAE}"/>
              </a:ext>
            </a:extLst>
          </p:cNvPr>
          <p:cNvSpPr/>
          <p:nvPr/>
        </p:nvSpPr>
        <p:spPr>
          <a:xfrm>
            <a:off x="5723776" y="1320455"/>
            <a:ext cx="5706224" cy="3490605"/>
          </a:xfrm>
          <a:prstGeom prst="round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C80DAEF-74E5-4050-9CFC-C9DC61A778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9992" y="1576917"/>
            <a:ext cx="4453789" cy="3042643"/>
          </a:xfrm>
          <a:noFill/>
          <a:ln>
            <a:noFill/>
          </a:ln>
          <a:effectLst>
            <a:softEdge rad="0"/>
          </a:effectLst>
        </p:spPr>
        <p:txBody>
          <a:bodyPr anchor="ctr">
            <a:normAutofit/>
          </a:bodyPr>
          <a:lstStyle/>
          <a:p>
            <a:pPr algn="ctr"/>
            <a:r>
              <a:rPr lang="en-US" sz="6700" b="1" kern="0" spc="0" dirty="0" err="1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r>
              <a:rPr lang="en-US" sz="6700" b="1" kern="0" cap="none" spc="0" dirty="0" err="1">
                <a:latin typeface="Arial" panose="020B0604020202020204" pitchFamily="34" charset="0"/>
                <a:cs typeface="Arial" panose="020B0604020202020204" pitchFamily="34" charset="0"/>
              </a:rPr>
              <a:t>eakBook</a:t>
            </a:r>
            <a:br>
              <a:rPr lang="en-US" sz="3600" kern="0" cap="none" spc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ru-RU" sz="3600" kern="0" cap="none" spc="0" dirty="0" err="1">
                <a:latin typeface="Arial" panose="020B0604020202020204" pitchFamily="34" charset="0"/>
                <a:cs typeface="Arial" panose="020B0604020202020204" pitchFamily="34" charset="0"/>
              </a:rPr>
              <a:t>Ортитологический</a:t>
            </a:r>
            <a:r>
              <a:rPr lang="ru-RU" sz="3600" kern="0" cap="none" spc="0" dirty="0">
                <a:latin typeface="Arial" panose="020B0604020202020204" pitchFamily="34" charset="0"/>
                <a:cs typeface="Arial" panose="020B0604020202020204" pitchFamily="34" charset="0"/>
              </a:rPr>
              <a:t> дневник</a:t>
            </a:r>
            <a:endParaRPr lang="ru-RU" sz="3600" kern="0" spc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Прямоугольник: скругленные углы 31">
            <a:extLst>
              <a:ext uri="{FF2B5EF4-FFF2-40B4-BE49-F238E27FC236}">
                <a16:creationId xmlns:a16="http://schemas.microsoft.com/office/drawing/2014/main" id="{1EFF955C-0922-4789-AD92-D8F831B8000D}"/>
              </a:ext>
            </a:extLst>
          </p:cNvPr>
          <p:cNvSpPr/>
          <p:nvPr/>
        </p:nvSpPr>
        <p:spPr>
          <a:xfrm>
            <a:off x="5723775" y="5472575"/>
            <a:ext cx="5706225" cy="595775"/>
          </a:xfrm>
          <a:prstGeom prst="round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0" name="Подзаголовок 2">
            <a:extLst>
              <a:ext uri="{FF2B5EF4-FFF2-40B4-BE49-F238E27FC236}">
                <a16:creationId xmlns:a16="http://schemas.microsoft.com/office/drawing/2014/main" id="{E97EBE1B-3B60-4E8E-9DB2-1E992B4963A8}"/>
              </a:ext>
            </a:extLst>
          </p:cNvPr>
          <p:cNvSpPr txBox="1">
            <a:spLocks/>
          </p:cNvSpPr>
          <p:nvPr/>
        </p:nvSpPr>
        <p:spPr>
          <a:xfrm>
            <a:off x="5685676" y="5472576"/>
            <a:ext cx="5706224" cy="59577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5000" lnSpcReduction="20000"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Сервер: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Django + Django REST Framework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Клиент: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React Native (Expo)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12111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138FC7EB-CE80-4807-BFCC-84473AD7E437}"/>
              </a:ext>
            </a:extLst>
          </p:cNvPr>
          <p:cNvSpPr/>
          <p:nvPr/>
        </p:nvSpPr>
        <p:spPr>
          <a:xfrm>
            <a:off x="866274" y="1689100"/>
            <a:ext cx="5342021" cy="4279080"/>
          </a:xfrm>
          <a:prstGeom prst="round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207290AB-76B1-4A1D-B228-67B749D7A908}"/>
              </a:ext>
            </a:extLst>
          </p:cNvPr>
          <p:cNvSpPr/>
          <p:nvPr/>
        </p:nvSpPr>
        <p:spPr>
          <a:xfrm rot="18876361">
            <a:off x="8825773" y="4860640"/>
            <a:ext cx="9184505" cy="4507680"/>
          </a:xfrm>
          <a:prstGeom prst="rect">
            <a:avLst/>
          </a:prstGeom>
          <a:solidFill>
            <a:srgbClr val="7D8A2E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79B4CC27-E750-4BFA-BFC2-A0E96803EC72}"/>
              </a:ext>
            </a:extLst>
          </p:cNvPr>
          <p:cNvSpPr/>
          <p:nvPr/>
        </p:nvSpPr>
        <p:spPr>
          <a:xfrm rot="7964671">
            <a:off x="-4511511" y="-2184948"/>
            <a:ext cx="8396556" cy="3250780"/>
          </a:xfrm>
          <a:prstGeom prst="rect">
            <a:avLst/>
          </a:prstGeom>
          <a:solidFill>
            <a:srgbClr val="7B882A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F23506C-ED08-49C2-B6F7-3546AEEAA1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898" y="-12548"/>
            <a:ext cx="10701849" cy="799280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 Актуальность</a:t>
            </a:r>
            <a:br>
              <a:rPr lang="ru-RU" b="1" dirty="0"/>
            </a:b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BA4B0BF-4A3D-4AAB-BA15-2A3F1A0841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10653" y="1937982"/>
            <a:ext cx="4981073" cy="3853218"/>
          </a:xfrm>
        </p:spPr>
        <p:txBody>
          <a:bodyPr anchor="t">
            <a:normAutofit fontScale="85000" lnSpcReduction="10000"/>
          </a:bodyPr>
          <a:lstStyle/>
          <a:p>
            <a:pPr algn="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Биоразнообразие под угрозой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</a:p>
          <a:p>
            <a:pPr algn="r"/>
            <a:endParaRPr lang="ru-RU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Недостаток цифровых инструментов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</a:p>
          <a:p>
            <a:pPr algn="r"/>
            <a:endParaRPr lang="ru-RU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Гражданская наука (</a:t>
            </a:r>
            <a:r>
              <a:rPr lang="ru-RU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citizen</a:t>
            </a:r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science</a:t>
            </a:r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</a:p>
          <a:p>
            <a:pPr algn="r"/>
            <a:endParaRPr lang="ru-RU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Поддержка региональных программ мониторинга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5054FFB8-6D69-4283-BA72-C4F2330F23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650879" y="1689100"/>
            <a:ext cx="4279080" cy="4279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3870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380062E1-9DBD-4293-BB13-6F0FD2B55F53}"/>
              </a:ext>
            </a:extLst>
          </p:cNvPr>
          <p:cNvSpPr/>
          <p:nvPr/>
        </p:nvSpPr>
        <p:spPr>
          <a:xfrm>
            <a:off x="6437150" y="1573242"/>
            <a:ext cx="4840451" cy="4333816"/>
          </a:xfrm>
          <a:prstGeom prst="round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207290AB-76B1-4A1D-B228-67B749D7A908}"/>
              </a:ext>
            </a:extLst>
          </p:cNvPr>
          <p:cNvSpPr/>
          <p:nvPr/>
        </p:nvSpPr>
        <p:spPr>
          <a:xfrm rot="18876361">
            <a:off x="9920824" y="5427563"/>
            <a:ext cx="6384158" cy="3260879"/>
          </a:xfrm>
          <a:prstGeom prst="rect">
            <a:avLst/>
          </a:prstGeom>
          <a:solidFill>
            <a:srgbClr val="7D8A2E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79B4CC27-E750-4BFA-BFC2-A0E96803EC72}"/>
              </a:ext>
            </a:extLst>
          </p:cNvPr>
          <p:cNvSpPr/>
          <p:nvPr/>
        </p:nvSpPr>
        <p:spPr>
          <a:xfrm rot="7964671">
            <a:off x="-4592168" y="-2171300"/>
            <a:ext cx="8396556" cy="3250780"/>
          </a:xfrm>
          <a:prstGeom prst="rect">
            <a:avLst/>
          </a:prstGeom>
          <a:solidFill>
            <a:srgbClr val="788525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F23506C-ED08-49C2-B6F7-3546AEEAA1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7834" y="0"/>
            <a:ext cx="10701849" cy="799280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 Почему выбрана эта тема?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BA4B0BF-4A3D-4AAB-BA15-2A3F1A0841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78600" y="1689100"/>
            <a:ext cx="4827336" cy="4102100"/>
          </a:xfrm>
        </p:spPr>
        <p:txBody>
          <a:bodyPr anchor="t">
            <a:normAutofit lnSpcReduction="10000"/>
          </a:bodyPr>
          <a:lstStyle/>
          <a:p>
            <a:r>
              <a:rPr lang="ru-RU" sz="2800" b="1" dirty="0">
                <a:latin typeface="+mj-lt"/>
              </a:rPr>
              <a:t>Личный интерес</a:t>
            </a:r>
            <a:r>
              <a:rPr lang="ru-RU" sz="2800" dirty="0">
                <a:latin typeface="+mj-lt"/>
              </a:rPr>
              <a:t> </a:t>
            </a:r>
          </a:p>
          <a:p>
            <a:endParaRPr lang="en-US" sz="2800" dirty="0">
              <a:latin typeface="+mj-lt"/>
            </a:endParaRPr>
          </a:p>
          <a:p>
            <a:r>
              <a:rPr lang="ru-RU" sz="2800" b="1" dirty="0">
                <a:latin typeface="+mj-lt"/>
              </a:rPr>
              <a:t>Оренбургская область</a:t>
            </a:r>
            <a:r>
              <a:rPr lang="ru-RU" sz="2800" dirty="0">
                <a:latin typeface="+mj-lt"/>
              </a:rPr>
              <a:t> </a:t>
            </a:r>
          </a:p>
          <a:p>
            <a:endParaRPr lang="en-US" sz="2800" dirty="0">
              <a:latin typeface="+mj-lt"/>
            </a:endParaRPr>
          </a:p>
          <a:p>
            <a:r>
              <a:rPr lang="ru-RU" sz="2800" b="1" dirty="0">
                <a:latin typeface="+mj-lt"/>
              </a:rPr>
              <a:t>Простой и удобный сервис</a:t>
            </a:r>
          </a:p>
          <a:p>
            <a:r>
              <a:rPr lang="ru-RU" sz="2800" dirty="0">
                <a:latin typeface="+mj-lt"/>
              </a:rPr>
              <a:t> </a:t>
            </a:r>
          </a:p>
          <a:p>
            <a:r>
              <a:rPr lang="ru-RU" sz="2800" b="1" dirty="0">
                <a:latin typeface="+mj-lt"/>
              </a:rPr>
              <a:t>Поддержка учёных</a:t>
            </a:r>
            <a:r>
              <a:rPr lang="ru-RU" sz="2800" dirty="0">
                <a:latin typeface="+mj-lt"/>
              </a:rPr>
              <a:t> </a:t>
            </a:r>
            <a:endParaRPr lang="ru-RU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203A4BC-CA27-43C2-B3FB-D0D2F12C70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21036" y="1573242"/>
            <a:ext cx="4333816" cy="4333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47646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89568863-22E4-4EB4-8F9C-8655C031B03C}"/>
              </a:ext>
            </a:extLst>
          </p:cNvPr>
          <p:cNvSpPr/>
          <p:nvPr/>
        </p:nvSpPr>
        <p:spPr>
          <a:xfrm>
            <a:off x="866274" y="1689100"/>
            <a:ext cx="4896549" cy="4279080"/>
          </a:xfrm>
          <a:prstGeom prst="round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207290AB-76B1-4A1D-B228-67B749D7A908}"/>
              </a:ext>
            </a:extLst>
          </p:cNvPr>
          <p:cNvSpPr/>
          <p:nvPr/>
        </p:nvSpPr>
        <p:spPr>
          <a:xfrm rot="18876361">
            <a:off x="9920824" y="5427563"/>
            <a:ext cx="6384158" cy="3260879"/>
          </a:xfrm>
          <a:prstGeom prst="rect">
            <a:avLst/>
          </a:prstGeom>
          <a:solidFill>
            <a:srgbClr val="7C8A2D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79B4CC27-E750-4BFA-BFC2-A0E96803EC72}"/>
              </a:ext>
            </a:extLst>
          </p:cNvPr>
          <p:cNvSpPr/>
          <p:nvPr/>
        </p:nvSpPr>
        <p:spPr>
          <a:xfrm rot="7964671">
            <a:off x="-4592168" y="-2171300"/>
            <a:ext cx="8396556" cy="3250780"/>
          </a:xfrm>
          <a:prstGeom prst="rect">
            <a:avLst/>
          </a:prstGeom>
          <a:solidFill>
            <a:srgbClr val="7D8B2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F23506C-ED08-49C2-B6F7-3546AEEAA1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5960" y="11886"/>
            <a:ext cx="10701849" cy="799280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 </a:t>
            </a:r>
            <a:r>
              <a:rPr lang="ru-RU" sz="5300" b="1" dirty="0"/>
              <a:t>Зачем нужно приложение? (цели)</a:t>
            </a:r>
            <a:br>
              <a:rPr lang="ru-RU" b="1" dirty="0"/>
            </a:br>
            <a:endParaRPr lang="ru-RU" b="1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BA4B0BF-4A3D-4AAB-BA15-2A3F1A0841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27221" y="1792705"/>
            <a:ext cx="4094079" cy="4049268"/>
          </a:xfrm>
        </p:spPr>
        <p:txBody>
          <a:bodyPr anchor="t">
            <a:normAutofit lnSpcReduction="10000"/>
          </a:bodyPr>
          <a:lstStyle/>
          <a:p>
            <a:pPr algn="r"/>
            <a:r>
              <a:rPr lang="ru-RU" sz="2800" b="1" dirty="0">
                <a:latin typeface="Arial" panose="020B0604020202020204" pitchFamily="34" charset="0"/>
                <a:cs typeface="Arial" panose="020B0604020202020204" pitchFamily="34" charset="0"/>
              </a:rPr>
              <a:t>Для орнитологов</a:t>
            </a:r>
          </a:p>
          <a:p>
            <a:pPr algn="r"/>
            <a:endParaRPr 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ru-RU" sz="2800" b="1" dirty="0">
                <a:latin typeface="Arial" panose="020B0604020202020204" pitchFamily="34" charset="0"/>
                <a:cs typeface="Arial" panose="020B0604020202020204" pitchFamily="34" charset="0"/>
              </a:rPr>
              <a:t>Для любителей</a:t>
            </a:r>
          </a:p>
          <a:p>
            <a:pPr algn="r"/>
            <a:endParaRPr 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ru-RU" sz="2800" b="1" dirty="0">
                <a:latin typeface="Arial" panose="020B0604020202020204" pitchFamily="34" charset="0"/>
                <a:cs typeface="Arial" panose="020B0604020202020204" pitchFamily="34" charset="0"/>
              </a:rPr>
              <a:t>Для волонтёров </a:t>
            </a:r>
          </a:p>
          <a:p>
            <a:pPr algn="r"/>
            <a:endParaRPr lang="ru-RU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ru-RU" sz="2800" b="1" dirty="0">
                <a:latin typeface="Arial" panose="020B0604020202020204" pitchFamily="34" charset="0"/>
                <a:cs typeface="Arial" panose="020B0604020202020204" pitchFamily="34" charset="0"/>
              </a:rPr>
              <a:t>Для учёных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3C6A5A0-B8E0-4CB0-AC36-E73CB0531E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9178" y="1689100"/>
            <a:ext cx="4227095" cy="4279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53950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89568863-22E4-4EB4-8F9C-8655C031B03C}"/>
              </a:ext>
            </a:extLst>
          </p:cNvPr>
          <p:cNvSpPr/>
          <p:nvPr/>
        </p:nvSpPr>
        <p:spPr>
          <a:xfrm>
            <a:off x="6653182" y="1500914"/>
            <a:ext cx="4560554" cy="4279080"/>
          </a:xfrm>
          <a:prstGeom prst="round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207290AB-76B1-4A1D-B228-67B749D7A908}"/>
              </a:ext>
            </a:extLst>
          </p:cNvPr>
          <p:cNvSpPr/>
          <p:nvPr/>
        </p:nvSpPr>
        <p:spPr>
          <a:xfrm rot="18876361">
            <a:off x="9920824" y="5427563"/>
            <a:ext cx="6384158" cy="3260879"/>
          </a:xfrm>
          <a:prstGeom prst="rect">
            <a:avLst/>
          </a:prstGeom>
          <a:solidFill>
            <a:srgbClr val="7C8A2D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79B4CC27-E750-4BFA-BFC2-A0E96803EC72}"/>
              </a:ext>
            </a:extLst>
          </p:cNvPr>
          <p:cNvSpPr/>
          <p:nvPr/>
        </p:nvSpPr>
        <p:spPr>
          <a:xfrm rot="7964671">
            <a:off x="-4592168" y="-2171300"/>
            <a:ext cx="8396556" cy="3250780"/>
          </a:xfrm>
          <a:prstGeom prst="rect">
            <a:avLst/>
          </a:prstGeom>
          <a:solidFill>
            <a:srgbClr val="7D8B2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F23506C-ED08-49C2-B6F7-3546AEEAA1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5960" y="11886"/>
            <a:ext cx="10701849" cy="799280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Клиентская часть (</a:t>
            </a:r>
            <a:r>
              <a:rPr lang="en-US" b="1" dirty="0"/>
              <a:t>React Native)</a:t>
            </a:r>
            <a:br>
              <a:rPr lang="en-US" b="1" dirty="0"/>
            </a:br>
            <a:br>
              <a:rPr lang="ru-RU" b="1" dirty="0"/>
            </a:br>
            <a:endParaRPr lang="ru-RU" b="1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BA4B0BF-4A3D-4AAB-BA15-2A3F1A0841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85000" y="1604519"/>
            <a:ext cx="3903883" cy="4049268"/>
          </a:xfrm>
        </p:spPr>
        <p:txBody>
          <a:bodyPr anchor="t">
            <a:normAutofit/>
          </a:bodyPr>
          <a:lstStyle/>
          <a:p>
            <a:pPr algn="r"/>
            <a:endParaRPr 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React Native</a:t>
            </a:r>
            <a:endParaRPr lang="ru-RU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endParaRPr 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Expo</a:t>
            </a:r>
            <a:endParaRPr lang="ru-RU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endParaRPr lang="ru-RU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ru-RU" sz="2800" b="1" dirty="0">
                <a:latin typeface="Arial" panose="020B0604020202020204" pitchFamily="34" charset="0"/>
                <a:cs typeface="Arial" panose="020B0604020202020204" pitchFamily="34" charset="0"/>
              </a:rPr>
              <a:t>Синхронизация + офлайн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66BAC13-205F-485F-BD8F-BEADDE370A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3346" y="1500913"/>
            <a:ext cx="4560554" cy="4279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149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207290AB-76B1-4A1D-B228-67B749D7A908}"/>
              </a:ext>
            </a:extLst>
          </p:cNvPr>
          <p:cNvSpPr/>
          <p:nvPr/>
        </p:nvSpPr>
        <p:spPr>
          <a:xfrm rot="18876361">
            <a:off x="9920824" y="5427563"/>
            <a:ext cx="6384158" cy="3260879"/>
          </a:xfrm>
          <a:prstGeom prst="rect">
            <a:avLst/>
          </a:prstGeom>
          <a:solidFill>
            <a:srgbClr val="7C8A2D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79B4CC27-E750-4BFA-BFC2-A0E96803EC72}"/>
              </a:ext>
            </a:extLst>
          </p:cNvPr>
          <p:cNvSpPr/>
          <p:nvPr/>
        </p:nvSpPr>
        <p:spPr>
          <a:xfrm rot="7964671">
            <a:off x="-4592168" y="-2171300"/>
            <a:ext cx="8396556" cy="3250780"/>
          </a:xfrm>
          <a:prstGeom prst="rect">
            <a:avLst/>
          </a:prstGeom>
          <a:solidFill>
            <a:srgbClr val="7D8B2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F23506C-ED08-49C2-B6F7-3546AEEAA1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5960" y="11886"/>
            <a:ext cx="10701849" cy="799280"/>
          </a:xfrm>
        </p:spPr>
        <p:txBody>
          <a:bodyPr>
            <a:noAutofit/>
          </a:bodyPr>
          <a:lstStyle/>
          <a:p>
            <a:pPr algn="ctr"/>
            <a:r>
              <a:rPr lang="ru-RU" sz="4000" b="1" dirty="0"/>
              <a:t>Серверная часть – технологии и выбор</a:t>
            </a:r>
            <a:r>
              <a:rPr lang="en-US" sz="4000" b="1" dirty="0"/>
              <a:t> </a:t>
            </a:r>
            <a:endParaRPr lang="ru-RU" sz="4000" b="1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66BAC13-205F-485F-BD8F-BEADDE370A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3346" y="1581976"/>
            <a:ext cx="4116955" cy="4116955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37C48280-C3EF-44FB-8216-A46F79A00A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581896" y="1581975"/>
            <a:ext cx="4116955" cy="4116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72559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89568863-22E4-4EB4-8F9C-8655C031B03C}"/>
              </a:ext>
            </a:extLst>
          </p:cNvPr>
          <p:cNvSpPr/>
          <p:nvPr/>
        </p:nvSpPr>
        <p:spPr>
          <a:xfrm>
            <a:off x="5871715" y="1500914"/>
            <a:ext cx="5342021" cy="4279080"/>
          </a:xfrm>
          <a:prstGeom prst="round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207290AB-76B1-4A1D-B228-67B749D7A908}"/>
              </a:ext>
            </a:extLst>
          </p:cNvPr>
          <p:cNvSpPr/>
          <p:nvPr/>
        </p:nvSpPr>
        <p:spPr>
          <a:xfrm rot="18876361">
            <a:off x="9920824" y="5427563"/>
            <a:ext cx="6384158" cy="3260879"/>
          </a:xfrm>
          <a:prstGeom prst="rect">
            <a:avLst/>
          </a:prstGeom>
          <a:solidFill>
            <a:srgbClr val="7C8A2D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79B4CC27-E750-4BFA-BFC2-A0E96803EC72}"/>
              </a:ext>
            </a:extLst>
          </p:cNvPr>
          <p:cNvSpPr/>
          <p:nvPr/>
        </p:nvSpPr>
        <p:spPr>
          <a:xfrm rot="7964671">
            <a:off x="-4592168" y="-2171300"/>
            <a:ext cx="8396556" cy="3250780"/>
          </a:xfrm>
          <a:prstGeom prst="rect">
            <a:avLst/>
          </a:prstGeom>
          <a:solidFill>
            <a:srgbClr val="7D8B2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F23506C-ED08-49C2-B6F7-3546AEEAA1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5960" y="11886"/>
            <a:ext cx="10701849" cy="799280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Архитектура сервера (по коду)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BA4B0BF-4A3D-4AAB-BA15-2A3F1A0841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32662" y="1604519"/>
            <a:ext cx="4656221" cy="4049268"/>
          </a:xfrm>
        </p:spPr>
        <p:txBody>
          <a:bodyPr anchor="t">
            <a:normAutofit/>
          </a:bodyPr>
          <a:lstStyle/>
          <a:p>
            <a:pPr algn="r"/>
            <a:endParaRPr 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2800" b="1" dirty="0" err="1">
                <a:latin typeface="Arial" panose="020B0604020202020204" pitchFamily="34" charset="0"/>
                <a:cs typeface="Arial" panose="020B0604020202020204" pitchFamily="34" charset="0"/>
              </a:rPr>
              <a:t>api</a:t>
            </a:r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/birds/species/</a:t>
            </a:r>
            <a:endParaRPr lang="ru-RU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endParaRPr 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2800" b="1" dirty="0" err="1">
                <a:latin typeface="Arial" panose="020B0604020202020204" pitchFamily="34" charset="0"/>
                <a:cs typeface="Arial" panose="020B0604020202020204" pitchFamily="34" charset="0"/>
              </a:rPr>
              <a:t>api</a:t>
            </a:r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/user/register/, /login/</a:t>
            </a:r>
            <a:endParaRPr lang="ru-RU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endParaRPr lang="ru-RU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2800" b="1" dirty="0" err="1">
                <a:latin typeface="Arial" panose="020B0604020202020204" pitchFamily="34" charset="0"/>
                <a:cs typeface="Arial" panose="020B0604020202020204" pitchFamily="34" charset="0"/>
              </a:rPr>
              <a:t>api</a:t>
            </a:r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/wiki/wikis/</a:t>
            </a:r>
            <a:endParaRPr lang="ru-RU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66BAC13-205F-485F-BD8F-BEADDE370A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3346" y="1500913"/>
            <a:ext cx="4116955" cy="4279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6772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207290AB-76B1-4A1D-B228-67B749D7A908}"/>
              </a:ext>
            </a:extLst>
          </p:cNvPr>
          <p:cNvSpPr/>
          <p:nvPr/>
        </p:nvSpPr>
        <p:spPr>
          <a:xfrm rot="18876361">
            <a:off x="9920824" y="5427563"/>
            <a:ext cx="6384158" cy="3260879"/>
          </a:xfrm>
          <a:prstGeom prst="rect">
            <a:avLst/>
          </a:prstGeom>
          <a:solidFill>
            <a:srgbClr val="7C8A2D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79B4CC27-E750-4BFA-BFC2-A0E96803EC72}"/>
              </a:ext>
            </a:extLst>
          </p:cNvPr>
          <p:cNvSpPr/>
          <p:nvPr/>
        </p:nvSpPr>
        <p:spPr>
          <a:xfrm rot="7964671">
            <a:off x="-4592168" y="-2171300"/>
            <a:ext cx="8396556" cy="3250780"/>
          </a:xfrm>
          <a:prstGeom prst="rect">
            <a:avLst/>
          </a:prstGeom>
          <a:solidFill>
            <a:srgbClr val="7D8B2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F23506C-ED08-49C2-B6F7-3546AEEAA1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5960" y="11886"/>
            <a:ext cx="10701849" cy="799280"/>
          </a:xfrm>
        </p:spPr>
        <p:txBody>
          <a:bodyPr>
            <a:noAutofit/>
          </a:bodyPr>
          <a:lstStyle/>
          <a:p>
            <a:pPr algn="ctr"/>
            <a:r>
              <a:rPr lang="ru-RU" sz="4400" b="1" dirty="0"/>
              <a:t>База данных и ключевые модели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66BAC13-205F-485F-BD8F-BEADDE370A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47561" y="1405719"/>
            <a:ext cx="10701956" cy="4149608"/>
          </a:xfrm>
          <a:prstGeom prst="rect">
            <a:avLst/>
          </a:prstGeom>
        </p:spPr>
      </p:pic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D0759093-FCC9-4CC5-97AD-F5441C5423DA}"/>
              </a:ext>
            </a:extLst>
          </p:cNvPr>
          <p:cNvSpPr/>
          <p:nvPr/>
        </p:nvSpPr>
        <p:spPr>
          <a:xfrm>
            <a:off x="8970209" y="4572000"/>
            <a:ext cx="2387600" cy="787400"/>
          </a:xfrm>
          <a:prstGeom prst="rect">
            <a:avLst/>
          </a:prstGeom>
          <a:solidFill>
            <a:srgbClr val="FBFBFB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69926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89568863-22E4-4EB4-8F9C-8655C031B03C}"/>
              </a:ext>
            </a:extLst>
          </p:cNvPr>
          <p:cNvSpPr/>
          <p:nvPr/>
        </p:nvSpPr>
        <p:spPr>
          <a:xfrm>
            <a:off x="1121915" y="1500914"/>
            <a:ext cx="5342021" cy="4279080"/>
          </a:xfrm>
          <a:prstGeom prst="round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207290AB-76B1-4A1D-B228-67B749D7A908}"/>
              </a:ext>
            </a:extLst>
          </p:cNvPr>
          <p:cNvSpPr/>
          <p:nvPr/>
        </p:nvSpPr>
        <p:spPr>
          <a:xfrm rot="18876361">
            <a:off x="9920824" y="5427563"/>
            <a:ext cx="6384158" cy="3260879"/>
          </a:xfrm>
          <a:prstGeom prst="rect">
            <a:avLst/>
          </a:prstGeom>
          <a:solidFill>
            <a:srgbClr val="7C8A2D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79B4CC27-E750-4BFA-BFC2-A0E96803EC72}"/>
              </a:ext>
            </a:extLst>
          </p:cNvPr>
          <p:cNvSpPr/>
          <p:nvPr/>
        </p:nvSpPr>
        <p:spPr>
          <a:xfrm rot="7964671">
            <a:off x="-4592168" y="-2171300"/>
            <a:ext cx="8396556" cy="3250780"/>
          </a:xfrm>
          <a:prstGeom prst="rect">
            <a:avLst/>
          </a:prstGeom>
          <a:solidFill>
            <a:srgbClr val="7D8B2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F23506C-ED08-49C2-B6F7-3546AEEAA1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5960" y="11886"/>
            <a:ext cx="10701849" cy="799280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Админ-панель </a:t>
            </a:r>
            <a:r>
              <a:rPr lang="en-US" b="1" dirty="0"/>
              <a:t>Django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BA4B0BF-4A3D-4AAB-BA15-2A3F1A0841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2862" y="1604519"/>
            <a:ext cx="4656221" cy="4049268"/>
          </a:xfrm>
        </p:spPr>
        <p:txBody>
          <a:bodyPr anchor="t">
            <a:normAutofit/>
          </a:bodyPr>
          <a:lstStyle/>
          <a:p>
            <a:pPr algn="r"/>
            <a:endParaRPr 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ru-RU" sz="2800" b="1" dirty="0">
                <a:latin typeface="Arial" panose="020B0604020202020204" pitchFamily="34" charset="0"/>
                <a:cs typeface="Arial" panose="020B0604020202020204" pitchFamily="34" charset="0"/>
              </a:rPr>
              <a:t>Скриншот </a:t>
            </a:r>
            <a:r>
              <a:rPr lang="ru-RU" sz="2800" b="1" dirty="0" err="1">
                <a:latin typeface="Arial" panose="020B0604020202020204" pitchFamily="34" charset="0"/>
                <a:cs typeface="Arial" panose="020B0604020202020204" pitchFamily="34" charset="0"/>
              </a:rPr>
              <a:t>админки</a:t>
            </a:r>
            <a:r>
              <a:rPr lang="ru-RU" sz="28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800" b="1" dirty="0" err="1">
                <a:latin typeface="Arial" panose="020B0604020202020204" pitchFamily="34" charset="0"/>
                <a:cs typeface="Arial" panose="020B0604020202020204" pitchFamily="34" charset="0"/>
              </a:rPr>
              <a:t>Django</a:t>
            </a:r>
            <a:r>
              <a:rPr lang="ru-RU" sz="2800" b="1" dirty="0">
                <a:latin typeface="Arial" panose="020B0604020202020204" pitchFamily="34" charset="0"/>
                <a:cs typeface="Arial" panose="020B0604020202020204" pitchFamily="34" charset="0"/>
              </a:rPr>
              <a:t> со списком видов птиц (таблица </a:t>
            </a:r>
            <a:r>
              <a:rPr lang="ru-RU" sz="2800" b="1" dirty="0" err="1">
                <a:latin typeface="Arial" panose="020B0604020202020204" pitchFamily="34" charset="0"/>
                <a:cs typeface="Arial" panose="020B0604020202020204" pitchFamily="34" charset="0"/>
              </a:rPr>
              <a:t>BirdSpecies</a:t>
            </a:r>
            <a:r>
              <a:rPr lang="ru-RU" sz="2800" b="1" dirty="0">
                <a:latin typeface="Arial" panose="020B0604020202020204" pitchFamily="34" charset="0"/>
                <a:cs typeface="Arial" panose="020B0604020202020204" pitchFamily="34" charset="0"/>
              </a:rPr>
              <a:t>) и другими полями для заполнения</a:t>
            </a:r>
            <a:endParaRPr lang="ru-RU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26390BB-C091-4C57-A3B2-C84404CCF9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3131" y="1500913"/>
            <a:ext cx="4116954" cy="4279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86570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207290AB-76B1-4A1D-B228-67B749D7A908}"/>
              </a:ext>
            </a:extLst>
          </p:cNvPr>
          <p:cNvSpPr/>
          <p:nvPr/>
        </p:nvSpPr>
        <p:spPr>
          <a:xfrm rot="18876361">
            <a:off x="9920824" y="5427563"/>
            <a:ext cx="6384158" cy="3260879"/>
          </a:xfrm>
          <a:prstGeom prst="rect">
            <a:avLst/>
          </a:prstGeom>
          <a:solidFill>
            <a:srgbClr val="7C8A2D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79B4CC27-E750-4BFA-BFC2-A0E96803EC72}"/>
              </a:ext>
            </a:extLst>
          </p:cNvPr>
          <p:cNvSpPr/>
          <p:nvPr/>
        </p:nvSpPr>
        <p:spPr>
          <a:xfrm rot="7964671">
            <a:off x="-4592168" y="-2171300"/>
            <a:ext cx="8396556" cy="3250780"/>
          </a:xfrm>
          <a:prstGeom prst="rect">
            <a:avLst/>
          </a:prstGeom>
          <a:solidFill>
            <a:srgbClr val="7D8B2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F23506C-ED08-49C2-B6F7-3546AEEAA1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5960" y="11886"/>
            <a:ext cx="10701849" cy="799280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 Заключение и планы развития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66BAC13-205F-485F-BD8F-BEADDE370A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945557" y="1581976"/>
            <a:ext cx="6122654" cy="4116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8577893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323</TotalTime>
  <Words>162</Words>
  <Application>Microsoft Office PowerPoint</Application>
  <PresentationFormat>Широкоэкранный</PresentationFormat>
  <Paragraphs>47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4" baseType="lpstr">
      <vt:lpstr>Arial</vt:lpstr>
      <vt:lpstr>Calisto MT</vt:lpstr>
      <vt:lpstr>Univers Condensed</vt:lpstr>
      <vt:lpstr>ChronicleVTI</vt:lpstr>
      <vt:lpstr>BeakBook Ортитологический дневник</vt:lpstr>
      <vt:lpstr> Актуальность </vt:lpstr>
      <vt:lpstr> Почему выбрана эта тема?</vt:lpstr>
      <vt:lpstr> Зачем нужно приложение? (цели) </vt:lpstr>
      <vt:lpstr>Клиентская часть (React Native)  </vt:lpstr>
      <vt:lpstr>Серверная часть – технологии и выбор </vt:lpstr>
      <vt:lpstr>Архитектура сервера (по коду)</vt:lpstr>
      <vt:lpstr>База данных и ключевые модели</vt:lpstr>
      <vt:lpstr>Админ-панель Django</vt:lpstr>
      <vt:lpstr> Заключение и планы развития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BeakBook Ортитологический дневник</dc:title>
  <dc:creator>Student</dc:creator>
  <cp:lastModifiedBy>Student</cp:lastModifiedBy>
  <cp:revision>2</cp:revision>
  <dcterms:created xsi:type="dcterms:W3CDTF">2026-06-15T05:13:16Z</dcterms:created>
  <dcterms:modified xsi:type="dcterms:W3CDTF">2026-06-16T04:50:07Z</dcterms:modified>
</cp:coreProperties>
</file>