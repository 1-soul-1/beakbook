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Lustria"/>
      <p:regular r:id="rId13"/>
    </p:embeddedFont>
    <p:embeddedFont>
      <p:font typeface="Open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r3Fgr2xRq/BbRvJRP+nXVluy3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Lustria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OpenSans-bold.fntdata"/><Relationship Id="rId14" Type="http://schemas.openxmlformats.org/officeDocument/2006/relationships/font" Target="fonts/OpenSans-regular.fntdata"/><Relationship Id="rId17" Type="http://schemas.openxmlformats.org/officeDocument/2006/relationships/font" Target="fonts/OpenSans-boldItalic.fntdata"/><Relationship Id="rId16" Type="http://schemas.openxmlformats.org/officeDocument/2006/relationships/font" Target="fonts/Open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54efcfbff43af76a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54efcfbff43af76a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/>
          <p:nvPr>
            <p:ph type="ctrTitle"/>
          </p:nvPr>
        </p:nvSpPr>
        <p:spPr>
          <a:xfrm>
            <a:off x="704088" y="889820"/>
            <a:ext cx="9989574" cy="3598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Open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" type="subTitle"/>
          </p:nvPr>
        </p:nvSpPr>
        <p:spPr>
          <a:xfrm>
            <a:off x="704088" y="4488426"/>
            <a:ext cx="6991776" cy="13027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12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" type="body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715383" y="1709738"/>
            <a:ext cx="10632067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pen San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" type="body"/>
          </p:nvPr>
        </p:nvSpPr>
        <p:spPr>
          <a:xfrm>
            <a:off x="715383" y="4589463"/>
            <a:ext cx="10632067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14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" type="body"/>
          </p:nvPr>
        </p:nvSpPr>
        <p:spPr>
          <a:xfrm>
            <a:off x="704088" y="2221992"/>
            <a:ext cx="5212080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2" type="body"/>
          </p:nvPr>
        </p:nvSpPr>
        <p:spPr>
          <a:xfrm>
            <a:off x="6181344" y="2221992"/>
            <a:ext cx="5212080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 txBox="1"/>
          <p:nvPr>
            <p:ph type="title"/>
          </p:nvPr>
        </p:nvSpPr>
        <p:spPr>
          <a:xfrm>
            <a:off x="704087" y="929147"/>
            <a:ext cx="10689336" cy="798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" type="body"/>
          </p:nvPr>
        </p:nvSpPr>
        <p:spPr>
          <a:xfrm>
            <a:off x="704088" y="1756538"/>
            <a:ext cx="5212080" cy="657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6"/>
          <p:cNvSpPr txBox="1"/>
          <p:nvPr>
            <p:ph idx="2" type="body"/>
          </p:nvPr>
        </p:nvSpPr>
        <p:spPr>
          <a:xfrm>
            <a:off x="704088" y="2442702"/>
            <a:ext cx="5212080" cy="351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3" type="body"/>
          </p:nvPr>
        </p:nvSpPr>
        <p:spPr>
          <a:xfrm>
            <a:off x="6181344" y="1756538"/>
            <a:ext cx="5212080" cy="657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4" type="body"/>
          </p:nvPr>
        </p:nvSpPr>
        <p:spPr>
          <a:xfrm>
            <a:off x="6181344" y="2442702"/>
            <a:ext cx="5212080" cy="351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7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7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9"/>
          <p:cNvSpPr txBox="1"/>
          <p:nvPr>
            <p:ph type="title"/>
          </p:nvPr>
        </p:nvSpPr>
        <p:spPr>
          <a:xfrm>
            <a:off x="704088" y="1069848"/>
            <a:ext cx="4093599" cy="13167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idx="1" type="body"/>
          </p:nvPr>
        </p:nvSpPr>
        <p:spPr>
          <a:xfrm>
            <a:off x="5183188" y="1069848"/>
            <a:ext cx="6172200" cy="4791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9"/>
          <p:cNvSpPr txBox="1"/>
          <p:nvPr>
            <p:ph idx="2" type="body"/>
          </p:nvPr>
        </p:nvSpPr>
        <p:spPr>
          <a:xfrm>
            <a:off x="704088" y="2551176"/>
            <a:ext cx="4093599" cy="3319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9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9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9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0"/>
          <p:cNvSpPr txBox="1"/>
          <p:nvPr>
            <p:ph type="title"/>
          </p:nvPr>
        </p:nvSpPr>
        <p:spPr>
          <a:xfrm>
            <a:off x="704088" y="1066800"/>
            <a:ext cx="4103431" cy="131752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0"/>
          <p:cNvSpPr/>
          <p:nvPr>
            <p:ph idx="2" type="pic"/>
          </p:nvPr>
        </p:nvSpPr>
        <p:spPr>
          <a:xfrm>
            <a:off x="5183188" y="1066800"/>
            <a:ext cx="6172200" cy="479425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0"/>
          <p:cNvSpPr txBox="1"/>
          <p:nvPr>
            <p:ph idx="1" type="body"/>
          </p:nvPr>
        </p:nvSpPr>
        <p:spPr>
          <a:xfrm>
            <a:off x="704088" y="2552700"/>
            <a:ext cx="4103431" cy="3316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20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0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" type="body"/>
          </p:nvPr>
        </p:nvSpPr>
        <p:spPr>
          <a:xfrm rot="5400000">
            <a:off x="4176320" y="-1253693"/>
            <a:ext cx="3739896" cy="10691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2"/>
          <p:cNvSpPr txBox="1"/>
          <p:nvPr>
            <p:ph type="title"/>
          </p:nvPr>
        </p:nvSpPr>
        <p:spPr>
          <a:xfrm rot="5400000">
            <a:off x="7924366" y="2315931"/>
            <a:ext cx="4984956" cy="23490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" type="body"/>
          </p:nvPr>
        </p:nvSpPr>
        <p:spPr>
          <a:xfrm rot="5400000">
            <a:off x="2513147" y="-746247"/>
            <a:ext cx="4984956" cy="8473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7DAD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  <a:defRPr b="0" i="0" sz="4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3429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3302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11" name="Google Shape;11;p11"/>
          <p:cNvCxnSpPr/>
          <p:nvPr/>
        </p:nvCxnSpPr>
        <p:spPr>
          <a:xfrm>
            <a:off x="800100" y="723900"/>
            <a:ext cx="105918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2" name="Google Shape;12;p11"/>
          <p:cNvCxnSpPr/>
          <p:nvPr/>
        </p:nvCxnSpPr>
        <p:spPr>
          <a:xfrm>
            <a:off x="800100" y="6142781"/>
            <a:ext cx="10591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7DA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5723775" y="6165287"/>
            <a:ext cx="5706225" cy="595775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88" name="Google Shape;88;p1"/>
          <p:cNvSpPr txBox="1"/>
          <p:nvPr>
            <p:ph idx="1" type="subTitle"/>
          </p:nvPr>
        </p:nvSpPr>
        <p:spPr>
          <a:xfrm>
            <a:off x="5723776" y="6134101"/>
            <a:ext cx="5706224" cy="5957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 sz="2200">
                <a:latin typeface="Arial"/>
                <a:ea typeface="Arial"/>
                <a:cs typeface="Arial"/>
                <a:sym typeface="Arial"/>
              </a:rPr>
              <a:t>Проект студента: Прохоренко Р. С.</a:t>
            </a:r>
            <a:br>
              <a:rPr lang="ru-RU" sz="2200">
                <a:latin typeface="Arial"/>
                <a:ea typeface="Arial"/>
                <a:cs typeface="Arial"/>
                <a:sym typeface="Arial"/>
              </a:rPr>
            </a:br>
            <a:r>
              <a:rPr lang="ru-RU" sz="2200">
                <a:latin typeface="Arial"/>
                <a:ea typeface="Arial"/>
                <a:cs typeface="Arial"/>
                <a:sym typeface="Arial"/>
              </a:rPr>
              <a:t>2026 г</a:t>
            </a:r>
            <a:r>
              <a:rPr lang="ru-R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cxnSp>
        <p:nvCxnSpPr>
          <p:cNvPr id="89" name="Google Shape;89;p1"/>
          <p:cNvCxnSpPr/>
          <p:nvPr/>
        </p:nvCxnSpPr>
        <p:spPr>
          <a:xfrm>
            <a:off x="5723776" y="723900"/>
            <a:ext cx="5706224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90" name="Google Shape;90;p1"/>
          <p:cNvCxnSpPr/>
          <p:nvPr/>
        </p:nvCxnSpPr>
        <p:spPr>
          <a:xfrm>
            <a:off x="5723776" y="6134100"/>
            <a:ext cx="5668124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 b="10085" l="14499" r="13217" t="10085"/>
          <a:stretch/>
        </p:blipFill>
        <p:spPr>
          <a:xfrm>
            <a:off x="1" y="-1"/>
            <a:ext cx="5375082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/>
          <p:nvPr/>
        </p:nvSpPr>
        <p:spPr>
          <a:xfrm>
            <a:off x="5723776" y="1320455"/>
            <a:ext cx="5706224" cy="3490605"/>
          </a:xfrm>
          <a:prstGeom prst="roundRect">
            <a:avLst>
              <a:gd fmla="val 747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93" name="Google Shape;93;p1"/>
          <p:cNvSpPr txBox="1"/>
          <p:nvPr>
            <p:ph type="ctrTitle"/>
          </p:nvPr>
        </p:nvSpPr>
        <p:spPr>
          <a:xfrm>
            <a:off x="6349992" y="1576917"/>
            <a:ext cx="4453789" cy="30426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B071"/>
              </a:buClr>
              <a:buSzPts val="6700"/>
              <a:buFont typeface="Arial"/>
              <a:buNone/>
            </a:pPr>
            <a:r>
              <a:rPr b="1" lang="ru-RU" sz="6700">
                <a:solidFill>
                  <a:srgbClr val="A7B07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1" lang="ru-RU" sz="6700" cap="none">
                <a:solidFill>
                  <a:srgbClr val="A7B071"/>
                </a:solidFill>
                <a:latin typeface="Arial"/>
                <a:ea typeface="Arial"/>
                <a:cs typeface="Arial"/>
                <a:sym typeface="Arial"/>
              </a:rPr>
              <a:t>eakBook</a:t>
            </a:r>
            <a:br>
              <a:rPr lang="ru-RU" sz="3600" cap="none">
                <a:latin typeface="Arial"/>
                <a:ea typeface="Arial"/>
                <a:cs typeface="Arial"/>
                <a:sym typeface="Arial"/>
              </a:rPr>
            </a:br>
            <a:r>
              <a:rPr lang="ru-RU" sz="3600" cap="none">
                <a:latin typeface="Arial"/>
                <a:ea typeface="Arial"/>
                <a:cs typeface="Arial"/>
                <a:sym typeface="Arial"/>
              </a:rPr>
              <a:t>Ортитологический дневник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5723775" y="5472575"/>
            <a:ext cx="5706225" cy="595775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5685676" y="5472576"/>
            <a:ext cx="5706224" cy="5957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Сервер: Django + Django REST Framework</a:t>
            </a:r>
            <a:b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Клиент: React Native (Expo)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804279" y="1627106"/>
            <a:ext cx="5342021" cy="4279080"/>
          </a:xfrm>
          <a:prstGeom prst="roundRect">
            <a:avLst>
              <a:gd fmla="val 654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01" name="Google Shape;101;p2"/>
          <p:cNvSpPr/>
          <p:nvPr/>
        </p:nvSpPr>
        <p:spPr>
          <a:xfrm rot="-2723639">
            <a:off x="8825773" y="4860640"/>
            <a:ext cx="9184505" cy="4507680"/>
          </a:xfrm>
          <a:prstGeom prst="rect">
            <a:avLst/>
          </a:prstGeom>
          <a:solidFill>
            <a:srgbClr val="7D8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02" name="Google Shape;102;p2"/>
          <p:cNvSpPr/>
          <p:nvPr/>
        </p:nvSpPr>
        <p:spPr>
          <a:xfrm rot="7964671">
            <a:off x="-4511511" y="-2184948"/>
            <a:ext cx="8396556" cy="3250780"/>
          </a:xfrm>
          <a:prstGeom prst="rect">
            <a:avLst/>
          </a:prstGeom>
          <a:solidFill>
            <a:srgbClr val="7B88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03" name="Google Shape;103;p2"/>
          <p:cNvSpPr txBox="1"/>
          <p:nvPr>
            <p:ph type="ctrTitle"/>
          </p:nvPr>
        </p:nvSpPr>
        <p:spPr>
          <a:xfrm>
            <a:off x="631898" y="-12548"/>
            <a:ext cx="10701849" cy="7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Open Sans"/>
              <a:buNone/>
            </a:pPr>
            <a:r>
              <a:rPr b="1" lang="ru-RU">
                <a:solidFill>
                  <a:srgbClr val="274E13"/>
                </a:solidFill>
              </a:rPr>
              <a:t> </a:t>
            </a:r>
            <a:r>
              <a:rPr b="1" lang="ru-RU">
                <a:solidFill>
                  <a:srgbClr val="6AA84F"/>
                </a:solidFill>
              </a:rPr>
              <a:t>АКТУАЛЬНОСТЬ</a:t>
            </a:r>
            <a:br>
              <a:rPr b="1" lang="ru-RU">
                <a:solidFill>
                  <a:srgbClr val="274E13"/>
                </a:solidFill>
              </a:rPr>
            </a:br>
            <a:endParaRPr>
              <a:solidFill>
                <a:srgbClr val="274E13"/>
              </a:solidFill>
            </a:endParaRPr>
          </a:p>
        </p:txBody>
      </p:sp>
      <p:sp>
        <p:nvSpPr>
          <p:cNvPr id="104" name="Google Shape;104;p2"/>
          <p:cNvSpPr txBox="1"/>
          <p:nvPr>
            <p:ph idx="1" type="subTitle"/>
          </p:nvPr>
        </p:nvSpPr>
        <p:spPr>
          <a:xfrm>
            <a:off x="1010653" y="1937982"/>
            <a:ext cx="4981073" cy="3853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ru-RU" sz="2400">
                <a:latin typeface="Arial"/>
                <a:ea typeface="Arial"/>
                <a:cs typeface="Arial"/>
                <a:sym typeface="Arial"/>
              </a:rPr>
              <a:t>Биоразнообразие под угрозой</a:t>
            </a:r>
            <a:r>
              <a:rPr lang="ru-RU" sz="24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rtl="0" algn="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ru-RU" sz="2400">
                <a:latin typeface="Arial"/>
                <a:ea typeface="Arial"/>
                <a:cs typeface="Arial"/>
                <a:sym typeface="Arial"/>
              </a:rPr>
              <a:t>Недостаток цифровых инструментов</a:t>
            </a:r>
            <a:r>
              <a:rPr lang="ru-RU" sz="24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rtl="0" algn="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ru-RU" sz="2400">
                <a:latin typeface="Arial"/>
                <a:ea typeface="Arial"/>
                <a:cs typeface="Arial"/>
                <a:sym typeface="Arial"/>
              </a:rPr>
              <a:t>Гражданская наука (citizen science)</a:t>
            </a:r>
            <a:r>
              <a:rPr lang="ru-RU" sz="24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rtl="0" algn="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ru-RU" sz="2400">
                <a:latin typeface="Arial"/>
                <a:ea typeface="Arial"/>
                <a:cs typeface="Arial"/>
                <a:sym typeface="Arial"/>
              </a:rPr>
              <a:t>Поддержка региональных программ мониторинга</a:t>
            </a:r>
            <a:r>
              <a:rPr lang="ru-RU" sz="2400">
                <a:latin typeface="Arial"/>
                <a:ea typeface="Arial"/>
                <a:cs typeface="Arial"/>
                <a:sym typeface="Arial"/>
              </a:rPr>
              <a:t> 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0879" y="1689100"/>
            <a:ext cx="4279080" cy="4279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/>
          <p:nvPr/>
        </p:nvSpPr>
        <p:spPr>
          <a:xfrm>
            <a:off x="866274" y="1689100"/>
            <a:ext cx="4896549" cy="4279080"/>
          </a:xfrm>
          <a:prstGeom prst="roundRect">
            <a:avLst>
              <a:gd fmla="val 692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11" name="Google Shape;111;p4"/>
          <p:cNvSpPr/>
          <p:nvPr/>
        </p:nvSpPr>
        <p:spPr>
          <a:xfrm rot="-2723639">
            <a:off x="9920824" y="5427563"/>
            <a:ext cx="6384158" cy="3260879"/>
          </a:xfrm>
          <a:prstGeom prst="rect">
            <a:avLst/>
          </a:prstGeom>
          <a:solidFill>
            <a:srgbClr val="7C8A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12" name="Google Shape;112;p4"/>
          <p:cNvSpPr/>
          <p:nvPr/>
        </p:nvSpPr>
        <p:spPr>
          <a:xfrm rot="7964671">
            <a:off x="-4592168" y="-2171300"/>
            <a:ext cx="8396556" cy="3250780"/>
          </a:xfrm>
          <a:prstGeom prst="rect">
            <a:avLst/>
          </a:prstGeom>
          <a:solidFill>
            <a:srgbClr val="7D8B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13" name="Google Shape;113;p4"/>
          <p:cNvSpPr txBox="1"/>
          <p:nvPr>
            <p:ph type="ctrTitle"/>
          </p:nvPr>
        </p:nvSpPr>
        <p:spPr>
          <a:xfrm>
            <a:off x="655960" y="11886"/>
            <a:ext cx="10701849" cy="7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Open Sans"/>
              <a:buNone/>
            </a:pPr>
            <a:r>
              <a:rPr b="1" lang="ru-RU">
                <a:solidFill>
                  <a:srgbClr val="6AA84F"/>
                </a:solidFill>
              </a:rPr>
              <a:t> </a:t>
            </a:r>
            <a:r>
              <a:rPr b="1" lang="ru-RU" sz="5300">
                <a:solidFill>
                  <a:srgbClr val="6AA84F"/>
                </a:solidFill>
              </a:rPr>
              <a:t>ЗАЧЕМ НУЖНО ПРИЛОЖЕНИЕ?</a:t>
            </a:r>
            <a:br>
              <a:rPr b="1" lang="ru-RU"/>
            </a:br>
            <a:endParaRPr b="1"/>
          </a:p>
        </p:txBody>
      </p:sp>
      <p:sp>
        <p:nvSpPr>
          <p:cNvPr id="114" name="Google Shape;114;p4"/>
          <p:cNvSpPr txBox="1"/>
          <p:nvPr>
            <p:ph idx="1" type="subTitle"/>
          </p:nvPr>
        </p:nvSpPr>
        <p:spPr>
          <a:xfrm>
            <a:off x="1227221" y="1792705"/>
            <a:ext cx="4094079" cy="40492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ru-RU" sz="2800">
                <a:latin typeface="Arial"/>
                <a:ea typeface="Arial"/>
                <a:cs typeface="Arial"/>
                <a:sym typeface="Arial"/>
              </a:rPr>
              <a:t>Для орнитологов</a:t>
            </a:r>
            <a:endParaRPr/>
          </a:p>
          <a:p>
            <a:pPr indent="0" lvl="0" marL="0" rtl="0" algn="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ru-RU" sz="2800">
                <a:latin typeface="Arial"/>
                <a:ea typeface="Arial"/>
                <a:cs typeface="Arial"/>
                <a:sym typeface="Arial"/>
              </a:rPr>
              <a:t>Для любителей</a:t>
            </a:r>
            <a:endParaRPr/>
          </a:p>
          <a:p>
            <a:pPr indent="0" lvl="0" marL="0" rtl="0" algn="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ru-RU" sz="2800">
                <a:latin typeface="Arial"/>
                <a:ea typeface="Arial"/>
                <a:cs typeface="Arial"/>
                <a:sym typeface="Arial"/>
              </a:rPr>
              <a:t>Для волонтёров </a:t>
            </a:r>
            <a:endParaRPr/>
          </a:p>
          <a:p>
            <a:pPr indent="0" lvl="0" marL="0" rtl="0" algn="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ru-RU" sz="2800">
                <a:latin typeface="Arial"/>
                <a:ea typeface="Arial"/>
                <a:cs typeface="Arial"/>
                <a:sym typeface="Arial"/>
              </a:rPr>
              <a:t>Для учёных</a:t>
            </a:r>
            <a:endParaRPr/>
          </a:p>
        </p:txBody>
      </p:sp>
      <p:pic>
        <p:nvPicPr>
          <p:cNvPr id="115" name="Google Shape;11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9178" y="1689100"/>
            <a:ext cx="4227095" cy="4279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6653182" y="1500914"/>
            <a:ext cx="4560554" cy="4279080"/>
          </a:xfrm>
          <a:prstGeom prst="roundRect">
            <a:avLst>
              <a:gd fmla="val 579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21" name="Google Shape;121;p5"/>
          <p:cNvSpPr/>
          <p:nvPr/>
        </p:nvSpPr>
        <p:spPr>
          <a:xfrm rot="-2723639">
            <a:off x="9920824" y="5427563"/>
            <a:ext cx="6384158" cy="3260879"/>
          </a:xfrm>
          <a:prstGeom prst="rect">
            <a:avLst/>
          </a:prstGeom>
          <a:solidFill>
            <a:srgbClr val="7C8A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22" name="Google Shape;122;p5"/>
          <p:cNvSpPr/>
          <p:nvPr/>
        </p:nvSpPr>
        <p:spPr>
          <a:xfrm rot="7964671">
            <a:off x="-4592168" y="-2171300"/>
            <a:ext cx="8396556" cy="3250780"/>
          </a:xfrm>
          <a:prstGeom prst="rect">
            <a:avLst/>
          </a:prstGeom>
          <a:solidFill>
            <a:srgbClr val="7D8B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23" name="Google Shape;123;p5"/>
          <p:cNvSpPr txBox="1"/>
          <p:nvPr>
            <p:ph type="ctrTitle"/>
          </p:nvPr>
        </p:nvSpPr>
        <p:spPr>
          <a:xfrm>
            <a:off x="655960" y="11886"/>
            <a:ext cx="10701849" cy="7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5000"/>
              <a:buFont typeface="Open Sans"/>
              <a:buNone/>
            </a:pPr>
            <a:r>
              <a:rPr b="1" lang="ru-RU" sz="4000">
                <a:solidFill>
                  <a:srgbClr val="6AA84F"/>
                </a:solidFill>
              </a:rPr>
              <a:t>КЛИЕНТСКАЯ ЧАСТЬ (REACT NATIVE)</a:t>
            </a:r>
            <a:br>
              <a:rPr b="1" lang="ru-RU"/>
            </a:br>
            <a:br>
              <a:rPr b="1" lang="ru-RU"/>
            </a:br>
            <a:endParaRPr b="1"/>
          </a:p>
        </p:txBody>
      </p:sp>
      <p:sp>
        <p:nvSpPr>
          <p:cNvPr id="124" name="Google Shape;124;p5"/>
          <p:cNvSpPr txBox="1"/>
          <p:nvPr>
            <p:ph idx="1" type="subTitle"/>
          </p:nvPr>
        </p:nvSpPr>
        <p:spPr>
          <a:xfrm>
            <a:off x="6985000" y="1604519"/>
            <a:ext cx="3903883" cy="40492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ru-RU" sz="2800">
                <a:latin typeface="Arial"/>
                <a:ea typeface="Arial"/>
                <a:cs typeface="Arial"/>
                <a:sym typeface="Arial"/>
              </a:rPr>
              <a:t>React Native</a:t>
            </a:r>
            <a:endParaRPr b="1"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ru-RU" sz="2800">
                <a:latin typeface="Arial"/>
                <a:ea typeface="Arial"/>
                <a:cs typeface="Arial"/>
                <a:sym typeface="Arial"/>
              </a:rPr>
              <a:t>Expo</a:t>
            </a:r>
            <a:endParaRPr b="1"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ru-RU" sz="2800">
                <a:latin typeface="Arial"/>
                <a:ea typeface="Arial"/>
                <a:cs typeface="Arial"/>
                <a:sym typeface="Arial"/>
              </a:rPr>
              <a:t>Синхронизация + офлайн</a:t>
            </a:r>
            <a:endParaRPr/>
          </a:p>
        </p:txBody>
      </p:sp>
      <p:pic>
        <p:nvPicPr>
          <p:cNvPr id="125" name="Google Shape;1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3346" y="1500913"/>
            <a:ext cx="4560554" cy="4279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/>
          <p:nvPr/>
        </p:nvSpPr>
        <p:spPr>
          <a:xfrm rot="-2723639">
            <a:off x="9920824" y="5427563"/>
            <a:ext cx="6384158" cy="3260879"/>
          </a:xfrm>
          <a:prstGeom prst="rect">
            <a:avLst/>
          </a:prstGeom>
          <a:solidFill>
            <a:srgbClr val="7C8A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31" name="Google Shape;131;p6"/>
          <p:cNvSpPr/>
          <p:nvPr/>
        </p:nvSpPr>
        <p:spPr>
          <a:xfrm rot="7964671">
            <a:off x="-4592168" y="-2171300"/>
            <a:ext cx="8396556" cy="3250780"/>
          </a:xfrm>
          <a:prstGeom prst="rect">
            <a:avLst/>
          </a:prstGeom>
          <a:solidFill>
            <a:srgbClr val="7D8B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32" name="Google Shape;132;p6"/>
          <p:cNvSpPr txBox="1"/>
          <p:nvPr>
            <p:ph type="ctrTitle"/>
          </p:nvPr>
        </p:nvSpPr>
        <p:spPr>
          <a:xfrm>
            <a:off x="655960" y="11886"/>
            <a:ext cx="10701849" cy="7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b="1" lang="ru-RU" sz="3600">
                <a:solidFill>
                  <a:srgbClr val="6AA84F"/>
                </a:solidFill>
              </a:rPr>
              <a:t>СЕРВЕРНАЯ ЧАСТЬ – ТЕХНОЛОГИИ И ВЫБОР </a:t>
            </a:r>
            <a:endParaRPr b="1" sz="3600">
              <a:solidFill>
                <a:srgbClr val="6AA84F"/>
              </a:solidFill>
            </a:endParaRPr>
          </a:p>
        </p:txBody>
      </p:sp>
      <p:pic>
        <p:nvPicPr>
          <p:cNvPr id="133" name="Google Shape;1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3346" y="1581976"/>
            <a:ext cx="4116955" cy="4116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1325" y="1626425"/>
            <a:ext cx="5000249" cy="4116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54efcfbff43af76a_1"/>
          <p:cNvSpPr txBox="1"/>
          <p:nvPr>
            <p:ph type="title"/>
          </p:nvPr>
        </p:nvSpPr>
        <p:spPr>
          <a:xfrm>
            <a:off x="700625" y="0"/>
            <a:ext cx="10691400" cy="67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800">
                <a:solidFill>
                  <a:srgbClr val="6AA84F"/>
                </a:solidFill>
              </a:rPr>
              <a:t>WPS сервер и почему</a:t>
            </a:r>
            <a:endParaRPr sz="4800">
              <a:solidFill>
                <a:srgbClr val="6AA84F"/>
              </a:solidFill>
            </a:endParaRPr>
          </a:p>
        </p:txBody>
      </p:sp>
      <p:pic>
        <p:nvPicPr>
          <p:cNvPr id="140" name="Google Shape;140;g54efcfbff43af76a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0747" y="2302998"/>
            <a:ext cx="5089275" cy="22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54efcfbff43af76a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81345" y="1315937"/>
            <a:ext cx="4016201" cy="4226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/>
          <p:nvPr/>
        </p:nvSpPr>
        <p:spPr>
          <a:xfrm rot="-2723639">
            <a:off x="9920824" y="5427563"/>
            <a:ext cx="6384158" cy="3260879"/>
          </a:xfrm>
          <a:prstGeom prst="rect">
            <a:avLst/>
          </a:prstGeom>
          <a:solidFill>
            <a:srgbClr val="7C8A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47" name="Google Shape;147;p8"/>
          <p:cNvSpPr/>
          <p:nvPr/>
        </p:nvSpPr>
        <p:spPr>
          <a:xfrm rot="7964671">
            <a:off x="-4592168" y="-2171300"/>
            <a:ext cx="8396556" cy="3250780"/>
          </a:xfrm>
          <a:prstGeom prst="rect">
            <a:avLst/>
          </a:prstGeom>
          <a:solidFill>
            <a:srgbClr val="7D8B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48" name="Google Shape;148;p8"/>
          <p:cNvSpPr txBox="1"/>
          <p:nvPr>
            <p:ph type="ctrTitle"/>
          </p:nvPr>
        </p:nvSpPr>
        <p:spPr>
          <a:xfrm>
            <a:off x="655960" y="11886"/>
            <a:ext cx="10701849" cy="7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"/>
              <a:buNone/>
            </a:pPr>
            <a:r>
              <a:rPr b="1" lang="ru-RU" sz="3600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БАЗА ДАННЫХ И КЛЮЧЕВЫЕ МОДЕЛИ</a:t>
            </a:r>
            <a:endParaRPr sz="3600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561" y="1405719"/>
            <a:ext cx="10701957" cy="414960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8"/>
          <p:cNvSpPr/>
          <p:nvPr/>
        </p:nvSpPr>
        <p:spPr>
          <a:xfrm>
            <a:off x="8970209" y="4572000"/>
            <a:ext cx="2387600" cy="7874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/>
          <p:nvPr/>
        </p:nvSpPr>
        <p:spPr>
          <a:xfrm rot="-2723639">
            <a:off x="9920824" y="5427563"/>
            <a:ext cx="6384158" cy="3260879"/>
          </a:xfrm>
          <a:prstGeom prst="rect">
            <a:avLst/>
          </a:prstGeom>
          <a:solidFill>
            <a:srgbClr val="7C8A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56" name="Google Shape;156;p10"/>
          <p:cNvSpPr/>
          <p:nvPr/>
        </p:nvSpPr>
        <p:spPr>
          <a:xfrm rot="7964671">
            <a:off x="-4592168" y="-2171300"/>
            <a:ext cx="8396556" cy="3250780"/>
          </a:xfrm>
          <a:prstGeom prst="rect">
            <a:avLst/>
          </a:prstGeom>
          <a:solidFill>
            <a:srgbClr val="7D8B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57" name="Google Shape;157;p10"/>
          <p:cNvSpPr txBox="1"/>
          <p:nvPr>
            <p:ph type="ctrTitle"/>
          </p:nvPr>
        </p:nvSpPr>
        <p:spPr>
          <a:xfrm>
            <a:off x="655960" y="11886"/>
            <a:ext cx="10701849" cy="7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Open Sans"/>
              <a:buNone/>
            </a:pPr>
            <a:r>
              <a:rPr b="1" lang="ru-RU" sz="3600">
                <a:solidFill>
                  <a:srgbClr val="6AA84F"/>
                </a:solidFill>
              </a:rPr>
              <a:t> ЗАКЛЮЧЕНИЕ И ПЛАНЫ РАЗВИТИЯ</a:t>
            </a:r>
            <a:endParaRPr sz="3600">
              <a:solidFill>
                <a:srgbClr val="6AA84F"/>
              </a:solidFill>
            </a:endParaRPr>
          </a:p>
        </p:txBody>
      </p:sp>
      <p:pic>
        <p:nvPicPr>
          <p:cNvPr id="158" name="Google Shape;15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081" y="2139959"/>
            <a:ext cx="5196701" cy="3494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9291" y="2139956"/>
            <a:ext cx="3494325" cy="349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